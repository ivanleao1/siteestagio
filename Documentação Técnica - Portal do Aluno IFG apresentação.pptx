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Plus Jakarta Sans"/>
      <ns0:bold ns1:id="rIdFont19"/>
      <ns0:regular ns1:id="rIdFont20"/>
    </ns0:embeddedFont>
    <ns0:embeddedFont>
      <ns0:font typeface="JetBrains Mono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2ca151a7-70af-44d6-98e8-2f65306ccfbd.fntdata" /><ns0:Relationship Id="rIdFont20" Type="http://schemas.openxmlformats.org/officeDocument/2006/relationships/font" Target="fonts/12798b65-5fd7-4a35-8032-d2eee8e6a64e.fntdata" /><ns0:Relationship Id="rIdFont21" Type="http://schemas.openxmlformats.org/officeDocument/2006/relationships/font" Target="fonts/45033e38-5f71-4530-afee-3326530defff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629275"/>
            <a:ext cx="109728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62927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642937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91800" y="623887"/>
            <a:ext cx="12763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JetBrains Mono"/>
              </a:rPr>
              <a:t>DOC-PROJ-2026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073622"/>
            <a:ext cx="10120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2C55E"/>
                </a:solidFill>
                <a:latin typeface="Plus Jakarta Sans"/>
              </a:rPr>
              <a:t>DOCUMENTAÇÃO DE DESENVOLVIMENTO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426047"/>
            <a:ext cx="8601075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Portal de Suporte e Orientação ao Aluno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793777"/>
            <a:ext cx="8191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Relatório de arquitetura, especificações técnicas e diretrizes de IHC para validação de estágio acadêmico.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609600"/>
            <a:ext cx="22264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Plus Jakarta Sans"/>
              </a:rPr>
              <a:t>IFG CÂMPUS GOIÂNIA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867400"/>
            <a:ext cx="213121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PÚBLICO-ALVO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48375"/>
            <a:ext cx="21312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Plus Jakarta Sans"/>
              </a:rPr>
              <a:t>Ensino Médio e Técnico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9375" y="5867400"/>
            <a:ext cx="267890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MODELO DE APLICAÇÃO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9375" y="6048375"/>
            <a:ext cx="26789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Plus Jakarta Sans"/>
              </a:rPr>
              <a:t>Single Page Application (SPA)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7300" y="5867400"/>
            <a:ext cx="23336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STATUS DO PROJETO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67300" y="6048375"/>
            <a:ext cx="2333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2C55E"/>
                </a:solidFill>
                <a:latin typeface="Plus Jakarta Sans"/>
              </a:rPr>
              <a:t>Concluído / Em Produção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6025" y="657225"/>
            <a:ext cx="1476375" cy="285750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766887"/>
            <a:ext cx="529590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167062"/>
            <a:ext cx="529590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567237"/>
            <a:ext cx="529590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766887"/>
            <a:ext cx="38100" cy="12096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167062"/>
            <a:ext cx="38100" cy="12096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4567237"/>
            <a:ext cx="38100" cy="12096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962150"/>
            <a:ext cx="5295900" cy="3619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62150"/>
            <a:ext cx="5295900" cy="3619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609600"/>
            <a:ext cx="4763095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1. Visão Geral do Projeto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39375" y="714375"/>
            <a:ext cx="13049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Escopo do Sistema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1995487"/>
            <a:ext cx="63007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Propósito Central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2290762"/>
            <a:ext cx="4895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Centralizar informações essenciais e rotinas acadêmicas para estudantes do IFG Câmpus Goiânia em uma plataforma acessível.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3395662"/>
            <a:ext cx="63007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Solução de IHC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690937"/>
            <a:ext cx="4895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Redução do ruído de informação e simplificação do acesso aos serviços institucionais via interface responsiva.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4795837"/>
            <a:ext cx="63007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Integração SUAP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5091112"/>
            <a:ext cx="4895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Ponte direta para emissão de documentos, verificação de frequência e matrículas sem redirecionamentos confusos.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571625"/>
            <a:ext cx="3505200" cy="4676775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1571625"/>
            <a:ext cx="3505200" cy="4676775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1571625"/>
            <a:ext cx="3505200" cy="4676775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5610225"/>
            <a:ext cx="2895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8200" y="5610225"/>
            <a:ext cx="2895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382000" y="5610225"/>
            <a:ext cx="2895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76425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876425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1876425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75" y="1990725"/>
            <a:ext cx="17145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075" y="1990725"/>
            <a:ext cx="17145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0587" y="1990725"/>
            <a:ext cx="200025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6096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Stack de Tecnologias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8477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2. Linguagens &amp; Ferramentas 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62625"/>
            <a:ext cx="29908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Foco: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 Acessibilidade Nativa (e-MAG)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8200" y="5762625"/>
            <a:ext cx="29908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Foco: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 Responsividade &amp; Mobile-First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0" y="5762625"/>
            <a:ext cx="29908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Foco: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 Alta Performance e Leveza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524125"/>
            <a:ext cx="38004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HTML5 Semântico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905125"/>
            <a:ext cx="29908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Estrutura acessível com tags como , e para compatibilidade com leitores de tela.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8200" y="2524125"/>
            <a:ext cx="38004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CSS3 Moderno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8200" y="2905125"/>
            <a:ext cx="29908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Variáveis CSS para temas dinâmicos (Alto Contraste) e layouts responsivos com Flexbox e CSS Grid.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0" y="2524125"/>
            <a:ext cx="38004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JavaScript (ES6+)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0" y="2905125"/>
            <a:ext cx="29908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Vanilla JS sem frameworks pesados. Zero tempo de compilação, leveza máxima e resposta instantânea.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0" y="2681287"/>
            <a:ext cx="5638800" cy="2181225"/>
          </a:xfrm>
          <a:prstGeom prst="roundRect">
            <a:avLst>
              <a:gd name="adj" fmla="val 698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119312"/>
            <a:ext cx="5029200" cy="1000125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271837"/>
            <a:ext cx="5029200" cy="1000125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424362"/>
            <a:ext cx="5029200" cy="1000125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0100" y="2309812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0100" y="346233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0100" y="4614862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Por que Vanilla Stack (Sem Frameworks)?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400" y="2986087"/>
            <a:ext cx="5943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2C55E"/>
                </a:solidFill>
                <a:latin typeface="Plus Jakarta Sans"/>
              </a:rPr>
              <a:t>MÉTRICA DE DESEMPENHO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400" y="3271837"/>
            <a:ext cx="594360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b="1" sz="5400" i="0" u="none">
                <a:solidFill>
                  <a:srgbClr val="FFFFFF"/>
                </a:solidFill>
                <a:latin typeface="Plus Jakarta Sans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400" y="4071937"/>
            <a:ext cx="59436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E2E8F0"/>
                </a:solidFill>
                <a:latin typeface="Plus Jakarta Sans"/>
              </a:rPr>
              <a:t>Pontuação de Performance &amp; Acessibilidade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8400" y="4386262"/>
            <a:ext cx="5943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Verificado via auditoria do Google Lighthouse no ambiente de homologação.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225" y="2309812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225" y="3462337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225" y="4614862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400" y="2309812"/>
            <a:ext cx="54506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Inicialização Instantânea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5400" y="2566987"/>
            <a:ext cx="4248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Sem dependência de bundlers ou arquivos JS pesados. Carregamento em menos de 300ms.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400" y="3462337"/>
            <a:ext cx="54506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Baixa Manutenção Acadêmica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5400" y="3719512"/>
            <a:ext cx="4248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Código sustentável e legível por qualquer estudante ou servidor do IFG sem requerer Node.js.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5400" y="4614862"/>
            <a:ext cx="54506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Acessibilidade Direta no DOM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5400" y="4872037"/>
            <a:ext cx="4248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Controle granular de atributos ARIA e foco sem camada de abstração de Virtual DOM.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95425"/>
            <a:ext cx="3530649" cy="4752975"/>
          </a:xfrm>
          <a:prstGeom prst="roundRect">
            <a:avLst>
              <a:gd name="adj" fmla="val 32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1495425"/>
            <a:ext cx="3530649" cy="4752975"/>
          </a:xfrm>
          <a:prstGeom prst="roundRect">
            <a:avLst>
              <a:gd name="adj" fmla="val 32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1495425"/>
            <a:ext cx="3530649" cy="4752975"/>
          </a:xfrm>
          <a:prstGeom prst="roundRect">
            <a:avLst>
              <a:gd name="adj" fmla="val 32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7725" y="1733550"/>
            <a:ext cx="695325" cy="219075"/>
          </a:xfrm>
          <a:prstGeom prst="roundRect">
            <a:avLst>
              <a:gd name="adj" fmla="val 17391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68874" y="1733550"/>
            <a:ext cx="714375" cy="219075"/>
          </a:xfrm>
          <a:prstGeom prst="roundRect">
            <a:avLst>
              <a:gd name="adj" fmla="val 1739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90024" y="1733550"/>
            <a:ext cx="714375" cy="219075"/>
          </a:xfrm>
          <a:prstGeom prst="roundRect">
            <a:avLst>
              <a:gd name="adj" fmla="val 1739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747962"/>
            <a:ext cx="114300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037433"/>
            <a:ext cx="114300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326903"/>
            <a:ext cx="114300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874" y="2747962"/>
            <a:ext cx="114300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874" y="3037433"/>
            <a:ext cx="114300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874" y="3326903"/>
            <a:ext cx="114300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0024" y="2747962"/>
            <a:ext cx="114300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0024" y="3037433"/>
            <a:ext cx="114300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0024" y="3326903"/>
            <a:ext cx="114300" cy="1428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6096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Engenharia de Software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8477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3. Arquitetura Orientada a Objetos (POO)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1771650"/>
            <a:ext cx="6381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5803D"/>
                </a:solidFill>
                <a:latin typeface="Plus Jakarta Sans"/>
              </a:rPr>
              <a:t>CLASS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2066925"/>
            <a:ext cx="400889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PortalApp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2381250"/>
            <a:ext cx="38179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Controller Principal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074" y="1771650"/>
            <a:ext cx="657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369A1"/>
                </a:solidFill>
                <a:latin typeface="Plus Jakarta Sans"/>
              </a:rPr>
              <a:t>CLASS 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8874" y="2066925"/>
            <a:ext cx="400889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AcessibilidadeManager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8874" y="2381250"/>
            <a:ext cx="38179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Gestão de IHC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224" y="1771650"/>
            <a:ext cx="657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B45309"/>
                </a:solidFill>
                <a:latin typeface="Plus Jakarta Sans"/>
              </a:rPr>
              <a:t>CLASS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0024" y="2066925"/>
            <a:ext cx="39019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BuscaController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0024" y="2381250"/>
            <a:ext cx="38179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Mecanismo de Pesquisa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725" y="2705100"/>
            <a:ext cx="3817999" cy="21327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334155"/>
                </a:solidFill>
                <a:latin typeface="Plus Jakarta Sans"/>
              </a:rPr>
              <a:t>Ciclo de vida do 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25" y="2994570"/>
            <a:ext cx="3817999" cy="21327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334155"/>
                </a:solidFill>
                <a:latin typeface="Plus Jakarta Sans"/>
              </a:rPr>
              <a:t>Roteamento interno SPA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725" y="3284041"/>
            <a:ext cx="3817999" cy="21327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334155"/>
                </a:solidFill>
                <a:latin typeface="Plus Jakarta Sans"/>
              </a:rPr>
              <a:t>Escuta de eventos globais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8874" y="2705100"/>
            <a:ext cx="3817999" cy="21327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334155"/>
                </a:solidFill>
                <a:latin typeface="Plus Jakarta Sans"/>
              </a:rPr>
              <a:t>Redimensionamento de fonte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8874" y="2994570"/>
            <a:ext cx="3817999" cy="21327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334155"/>
                </a:solidFill>
                <a:latin typeface="Plus Jakarta Sans"/>
              </a:rPr>
              <a:t>Modo Alto Contraste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8874" y="3284041"/>
            <a:ext cx="3817999" cy="21327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334155"/>
                </a:solidFill>
                <a:latin typeface="Plus Jakarta Sans"/>
              </a:rPr>
              <a:t>Persistência em localStorage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0024" y="2705100"/>
            <a:ext cx="3817999" cy="21327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334155"/>
                </a:solidFill>
                <a:latin typeface="Plus Jakarta Sans"/>
              </a:rPr>
              <a:t>Processamento de busca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0024" y="2994570"/>
            <a:ext cx="3817999" cy="21327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334155"/>
                </a:solidFill>
                <a:latin typeface="Plus Jakarta Sans"/>
              </a:rPr>
              <a:t>Filtro de tags em tempo real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0024" y="3284041"/>
            <a:ext cx="3817999" cy="21327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334155"/>
                </a:solidFill>
                <a:latin typeface="Plus Jakarta Sans"/>
              </a:rPr>
              <a:t>Renderização dinâmica do DOM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58690"/>
            <a:ext cx="5600700" cy="2026294"/>
          </a:xfrm>
          <a:prstGeom prst="roundRect">
            <a:avLst>
              <a:gd name="adj" fmla="val 752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5100" y="2214562"/>
            <a:ext cx="5067300" cy="1000125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15100" y="3367087"/>
            <a:ext cx="5067300" cy="1000125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15100" y="4519612"/>
            <a:ext cx="5067300" cy="1009650"/>
          </a:xfrm>
          <a:prstGeom prst="roundRect">
            <a:avLst>
              <a:gd name="adj" fmla="val 1132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15100" y="2214562"/>
            <a:ext cx="38100" cy="10001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15100" y="3367087"/>
            <a:ext cx="38100" cy="10001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15100" y="4519612"/>
            <a:ext cx="38100" cy="10096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6096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Paradigmas Complementares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8477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Programação Funcional no Filtro de 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125390"/>
            <a:ext cx="6334125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64748B"/>
                </a:solidFill>
                <a:latin typeface="JetBrains Mono"/>
              </a:rPr>
              <a:t>// Filtragem declarativa e imutável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338661"/>
            <a:ext cx="6334125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F43F5E"/>
                </a:solidFill>
                <a:latin typeface="JetBrains Mono"/>
              </a:rPr>
              <a:t>const</a:t>
            </a:r>
            <a:r>
              <a:rPr b="0" sz="1050" i="0" u="none">
                <a:solidFill>
                  <a:srgbClr val="E2E8F0"/>
                </a:solidFill>
                <a:latin typeface="JetBrains Mono"/>
              </a:rPr>
              <a:t> filtrarDuvidas = (termo, base) =&gt;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551932"/>
            <a:ext cx="6143625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F43F5E"/>
                </a:solidFill>
                <a:latin typeface="JetBrains Mono"/>
              </a:rPr>
              <a:t>return</a:t>
            </a:r>
            <a:r>
              <a:rPr b="0" sz="1050" i="0" u="none">
                <a:solidFill>
                  <a:srgbClr val="E2E8F0"/>
                </a:solidFill>
                <a:latin typeface="JetBrains Mono"/>
              </a:rPr>
              <a:t> base.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filter</a:t>
            </a:r>
            <a:r>
              <a:rPr b="0" sz="1050" i="0" u="none">
                <a:solidFill>
                  <a:srgbClr val="E2E8F0"/>
                </a:solidFill>
                <a:latin typeface="JetBrains Mono"/>
              </a:rPr>
              <a:t>(item =&gt;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7300" y="3765202"/>
            <a:ext cx="5953125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E2E8F0"/>
                </a:solidFill>
                <a:latin typeface="JetBrains Mono"/>
              </a:rPr>
              <a:t>item.titulo.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toLowerCase</a:t>
            </a:r>
            <a:r>
              <a:rPr b="0" sz="1050" i="0" u="none">
                <a:solidFill>
                  <a:srgbClr val="E2E8F0"/>
                </a:solidFill>
                <a:latin typeface="JetBrains Mono"/>
              </a:rPr>
              <a:t>().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includes</a:t>
            </a:r>
            <a:r>
              <a:rPr b="0" sz="1050" i="0" u="none">
                <a:solidFill>
                  <a:srgbClr val="E2E8F0"/>
                </a:solidFill>
                <a:latin typeface="JetBrains Mono"/>
              </a:rPr>
              <a:t>(termo) ||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7300" y="3978473"/>
            <a:ext cx="5953125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E2E8F0"/>
                </a:solidFill>
                <a:latin typeface="JetBrains Mono"/>
              </a:rPr>
              <a:t>item.tags.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some</a:t>
            </a:r>
            <a:r>
              <a:rPr b="0" sz="1050" i="0" u="none">
                <a:solidFill>
                  <a:srgbClr val="E2E8F0"/>
                </a:solidFill>
                <a:latin typeface="JetBrains Mono"/>
              </a:rPr>
              <a:t>(tag =&gt; tag.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includes</a:t>
            </a:r>
            <a:r>
              <a:rPr b="0" sz="1050" i="0" u="none">
                <a:solidFill>
                  <a:srgbClr val="E2E8F0"/>
                </a:solidFill>
                <a:latin typeface="JetBrains Mono"/>
              </a:rPr>
              <a:t>(termo))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800" y="4191744"/>
            <a:ext cx="6143625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E2E8F0"/>
                </a:solidFill>
                <a:latin typeface="JetBrains Mono"/>
              </a:rPr>
              <a:t>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4405014"/>
            <a:ext cx="6334125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E2E8F0"/>
                </a:solidFill>
                <a:latin typeface="JetBrains Mono"/>
              </a:rPr>
              <a:t>};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3700" y="2405062"/>
            <a:ext cx="5448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Imutabilidade de Dados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3700" y="2662237"/>
            <a:ext cx="4743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 base de conhecimento original nunca é alterada durante as pesquisas do estudante.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3700" y="3557587"/>
            <a:ext cx="5448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Funções Puras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3700" y="3814762"/>
            <a:ext cx="4743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Facilidade para testes unitários e prevenção de bugs em efeitos colaterais.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3700" y="4710112"/>
            <a:ext cx="5448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Iteradores de Alta Ordem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3700" y="4967287"/>
            <a:ext cx="47434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Uso intensivo de 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filter()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, 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map()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e 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reduce()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para máxima legibilidade do código.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52737"/>
            <a:ext cx="3505200" cy="2076450"/>
          </a:xfrm>
          <a:prstGeom prst="roundRect">
            <a:avLst>
              <a:gd name="adj" fmla="val 733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52737"/>
            <a:ext cx="3505200" cy="2076450"/>
          </a:xfrm>
          <a:prstGeom prst="roundRect">
            <a:avLst>
              <a:gd name="adj" fmla="val 733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52737"/>
            <a:ext cx="3505200" cy="2076450"/>
          </a:xfrm>
          <a:prstGeom prst="roundRect">
            <a:avLst>
              <a:gd name="adj" fmla="val 733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0" y="3119437"/>
            <a:ext cx="533400" cy="533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3119437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3100" y="3119437"/>
            <a:ext cx="533400" cy="533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3612" y="3271837"/>
            <a:ext cx="25717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1700" y="3271837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1212" y="3271837"/>
            <a:ext cx="25717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6096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Interação Humano-Computador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8477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4. Requisitos de Acessibilidade (e-MAG / WCAG)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956" y="3805237"/>
            <a:ext cx="39004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Dimensionamento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825" y="4119562"/>
            <a:ext cx="37147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Plus Jakarta Sans"/>
              </a:rPr>
              <a:t>Controles de zoom de fonte (A+, A-, Reset) com persistência de preferências no navegador.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5756" y="3805237"/>
            <a:ext cx="39004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Plus Jakarta Sans"/>
              </a:rPr>
              <a:t>Alto Contraste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8625" y="4119562"/>
            <a:ext cx="37147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94A3B8"/>
                </a:solidFill>
                <a:latin typeface="Plus Jakarta Sans"/>
              </a:rPr>
              <a:t>Inversão inteligente de temas e paleta de alto contraste para fotofobia ou baixa visão.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9556" y="3805237"/>
            <a:ext cx="39004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Navegação Teclado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2425" y="4119562"/>
            <a:ext cx="37147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Plus Jakarta Sans"/>
              </a:rPr>
              <a:t>Foco visível aprimorado para navegação completa por tecla TAB em todos os botões e formulários.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76562"/>
            <a:ext cx="3505200" cy="18288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76562"/>
            <a:ext cx="3505200" cy="18288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76562"/>
            <a:ext cx="3505200" cy="18288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252787"/>
            <a:ext cx="33337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252787"/>
            <a:ext cx="2381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252787"/>
            <a:ext cx="3048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Estrutura do Sistema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477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5.1 Módulo SUAP e Atalhos Estruturados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671887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Boletim &amp; Notas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986212"/>
            <a:ext cx="30480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Acesso direto à consulta de notas por etapa letiva sem navegação por menus intermediários.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671887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Frequência Acadêmica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3986212"/>
            <a:ext cx="30480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Acompanhamento do percentual de presenças para prevenção de retenção por falta.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671887"/>
            <a:ext cx="38385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Requerimentos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3986212"/>
            <a:ext cx="30480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Emissão de declarações, certidões e abertura de processos eletrônicos de forma guiada.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81325"/>
            <a:ext cx="5334000" cy="1819275"/>
          </a:xfrm>
          <a:prstGeom prst="roundRect">
            <a:avLst>
              <a:gd name="adj" fmla="val 83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81325"/>
            <a:ext cx="5334000" cy="1819275"/>
          </a:xfrm>
          <a:prstGeom prst="roundRect">
            <a:avLst>
              <a:gd name="adj" fmla="val 83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314700"/>
            <a:ext cx="200025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314700"/>
            <a:ext cx="2286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3781425"/>
            <a:ext cx="12382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4038600"/>
            <a:ext cx="123825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4295775"/>
            <a:ext cx="12382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725" y="3781425"/>
            <a:ext cx="12382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725" y="4038600"/>
            <a:ext cx="12382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725" y="4295775"/>
            <a:ext cx="123825" cy="142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6096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Guias e Orientações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8477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5.2 Módulos Informativos do Aluno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8250" y="3295650"/>
            <a:ext cx="303787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Regimento Acadêmico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714750"/>
            <a:ext cx="5881687" cy="2571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Frequência mínima obrigatória: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75%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3971925"/>
            <a:ext cx="5881687" cy="2571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Média para aprovação direta: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6.0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4229100"/>
            <a:ext cx="5881687" cy="2571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Regras de abono de faltas e segunda chamada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5625" y="3295650"/>
            <a:ext cx="31003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Orientações de Estágio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3714750"/>
            <a:ext cx="5629275" cy="2571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Requisitos para início do Estágio Obrigatório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2725" y="3971925"/>
            <a:ext cx="5629275" cy="2571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Emissão do Termo de Compromisso (TCE)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4229100"/>
            <a:ext cx="5629275" cy="2571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Validação e entrega do relatório final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99457"/>
            <a:ext cx="5334000" cy="2183010"/>
          </a:xfrm>
          <a:prstGeom prst="roundRect">
            <a:avLst>
              <a:gd name="adj" fmla="val 69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97547"/>
            <a:ext cx="5334000" cy="1786830"/>
          </a:xfrm>
          <a:prstGeom prst="roundRect">
            <a:avLst>
              <a:gd name="adj" fmla="val 85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799457"/>
            <a:ext cx="533400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4201417"/>
            <a:ext cx="4724400" cy="47625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48400" y="2997547"/>
            <a:ext cx="5334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53200" y="4155727"/>
            <a:ext cx="1133475" cy="323850"/>
          </a:xfrm>
          <a:prstGeom prst="roundRect">
            <a:avLst>
              <a:gd name="adj" fmla="val 17647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00975" y="4155727"/>
            <a:ext cx="676275" cy="323850"/>
          </a:xfrm>
          <a:prstGeom prst="roundRect">
            <a:avLst>
              <a:gd name="adj" fmla="val 17647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91550" y="4155727"/>
            <a:ext cx="1047750" cy="323850"/>
          </a:xfrm>
          <a:prstGeom prst="roundRect">
            <a:avLst>
              <a:gd name="adj" fmla="val 17647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6096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Infraestrutura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8477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6. Guia de Execução e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42357"/>
            <a:ext cx="62007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Execução Local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61457"/>
            <a:ext cx="48196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Não necessita de servidores Node.js ou gerenciadores de pacotes.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4353817"/>
            <a:ext cx="45148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22C55E"/>
                </a:solidFill>
                <a:latin typeface="JetBrains Mono"/>
              </a:rPr>
              <a:t>abrir index.html no navegador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3340447"/>
            <a:ext cx="56388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Hospedagem Estática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3759547"/>
            <a:ext cx="5638800" cy="243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Compatível com infraestruturas gratuitas e institucionais: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86550" y="4231927"/>
            <a:ext cx="962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GitHub Pages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4325" y="4231927"/>
            <a:ext cx="504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Vercel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24900" y="4231927"/>
            <a:ext cx="876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Servidor IFG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43212"/>
            <a:ext cx="3454449" cy="1895475"/>
          </a:xfrm>
          <a:prstGeom prst="roundRect">
            <a:avLst>
              <a:gd name="adj" fmla="val 80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843212"/>
            <a:ext cx="3454449" cy="1895475"/>
          </a:xfrm>
          <a:prstGeom prst="roundRect">
            <a:avLst>
              <a:gd name="adj" fmla="val 80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843212"/>
            <a:ext cx="3454449" cy="1895475"/>
          </a:xfrm>
          <a:prstGeom prst="roundRect">
            <a:avLst>
              <a:gd name="adj" fmla="val 80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Impacto Esperado no Câmpus Goiânia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793" y="3148012"/>
            <a:ext cx="3556062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b="1" sz="4200" i="0" u="none">
                <a:solidFill>
                  <a:srgbClr val="16A34A"/>
                </a:solidFill>
                <a:latin typeface="Plus Jakarta Sans"/>
              </a:rPr>
              <a:t>-40%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793" y="3795712"/>
            <a:ext cx="35560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Dúvidas Repetitivas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793" y="4090987"/>
            <a:ext cx="3556062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Redução no atendimento presencial da CORAC/Secretaria.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8043" y="3148012"/>
            <a:ext cx="3556062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b="1" sz="4200" i="0" u="none">
                <a:solidFill>
                  <a:srgbClr val="0284C7"/>
                </a:solidFill>
                <a:latin typeface="Plus Jakarta Sans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43" y="3795712"/>
            <a:ext cx="35560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Conformidade e-MAG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8043" y="4090987"/>
            <a:ext cx="3556062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Acessibilidade garantida a alunos com deficiência visual.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93" y="3148012"/>
            <a:ext cx="3556062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b="1" sz="4200" i="0" u="none">
                <a:solidFill>
                  <a:srgbClr val="D97706"/>
                </a:solidFill>
                <a:latin typeface="Plus Jakarta Sans"/>
              </a:rPr>
              <a:t>3 Clique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7293" y="3795712"/>
            <a:ext cx="35560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Navegação Máxima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7293" y="4090987"/>
            <a:ext cx="3556062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Qualquer documento ou guia acessado rapidamente.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19475" y="4176712"/>
            <a:ext cx="2286000" cy="504825"/>
          </a:xfrm>
          <a:prstGeom prst="roundRect">
            <a:avLst>
              <a:gd name="adj" fmla="val 1509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34075" y="4176712"/>
            <a:ext cx="2838450" cy="504825"/>
          </a:xfrm>
          <a:prstGeom prst="roundRect">
            <a:avLst>
              <a:gd name="adj" fmla="val 1509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700" y="4352925"/>
            <a:ext cx="19050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4352925"/>
            <a:ext cx="19050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49390" y="2176462"/>
            <a:ext cx="28932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2C55E"/>
                </a:solidFill>
                <a:latin typeface="Plus Jakarta Sans"/>
              </a:rPr>
              <a:t>CONCLUSÃO DE ESTÁGIO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58307" y="2528887"/>
            <a:ext cx="3075384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lus Jakarta Sans"/>
              </a:rPr>
              <a:t>Obrigado!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300412"/>
            <a:ext cx="762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Projeto desenvolvido para otimização da experiência acadêmica no Instituto Federal de Goiás – Câmpus Goiânia.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21906" y="4338637"/>
            <a:ext cx="1785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E2E8F0"/>
                </a:solidFill>
                <a:latin typeface="Plus Jakarta Sans"/>
              </a:rPr>
              <a:t>IFG Câmpus Goiânia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7450" y="4338637"/>
            <a:ext cx="24765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E2E8F0"/>
                </a:solidFill>
                <a:latin typeface="Plus Jakarta Sans"/>
              </a:rPr>
              <a:t>Relatório Técnico de Estágio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